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ECM comparison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Building: SFH_Greece_1946_1969</a:t>
            </a:r>
          </a:p>
          <a:p>
            <a:pPr lvl="0"/>
            <a:r>
              <a:rPr/>
              <a:t>Category: Single Family House</a:t>
            </a:r>
          </a:p>
          <a:p>
            <a:pPr lvl="0"/>
            <a:r>
              <a:rPr/>
              <a:t>Country: Greece</a:t>
            </a:r>
          </a:p>
          <a:p>
            <a:pPr lvl="0"/>
            <a:r>
              <a:rPr/>
              <a:t>Weather source: pvgis</a:t>
            </a:r>
          </a:p>
          <a:p>
            <a:pPr lvl="0"/>
            <a:r>
              <a:rPr/>
              <a:t>Simulations: 3 total, 3 successful, 0 failed</a:t>
            </a:r>
          </a:p>
          <a:p>
            <a:pPr lvl="0"/>
            <a:r>
              <a:rPr/>
              <a:t>Total runtime: 0.00 s</a:t>
            </a:r>
          </a:p>
          <a:p>
            <a:pPr lvl="0"/>
            <a:r>
              <a:rPr/>
              <a:t>Included scenarios: Baseline, deep_envelope, condensing_boiler + condensing boiler eta_generation=1.1</a:t>
            </a:r>
          </a:p>
          <a:p>
            <a:pPr lvl="0"/>
            <a:r>
              <a:rPr/>
              <a:t>Generated on: 2026-03-24 14:18</a:t>
            </a:r>
          </a:p>
          <a:p>
            <a:pPr lvl="0"/>
            <a:r>
              <a:rPr/>
              <a:t>HTML report: src/relife_forecasting/results/ecm_api/sfh_greece_1946_1969__deep_envelope_condensing_boiler__report__pvgis.html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workflow runs a baseline plus the configured renovation scenarios defined in </a:t>
            </a:r>
            <a:r>
              <a:rPr>
                <a:latin typeface="Courier"/>
              </a:rPr>
              <a:t>RENOVATION_SCENARIOS</a:t>
            </a:r>
            <a:r>
              <a:rPr/>
              <a:t>.</a:t>
            </a:r>
          </a:p>
          <a:p>
            <a:pPr lvl="0"/>
            <a:r>
              <a:rPr/>
              <a:t>Each scenario produces hourly ISO 52016 results, annual UNI/TS 11300 primary energy, and scenario-specific CSV exports.</a:t>
            </a:r>
          </a:p>
          <a:p>
            <a:pPr lvl="0"/>
            <a:r>
              <a:rPr/>
              <a:t>CO2 is computed with the same core logic used by the API emission endpoints and then aggregated per scenario.</a:t>
            </a:r>
          </a:p>
          <a:p>
            <a:pPr lvl="0"/>
            <a:r>
              <a:rPr/>
              <a:t>The presentation focuses on annual scenario deltas so the ranking is easy to read for decision making.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Generated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total [kWh]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energy [kWh]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energy [kWh]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CO2 [t/y]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CO2 saving [%]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69,309.68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84,572.06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77,229.08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deep_envelope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29,402.49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34,999.80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31,107.47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condensing_boiler + condensing boiler eta_generation=1.1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69,309.68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71,435.31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64,913.76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15.80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Results</a:t>
            </a:r>
          </a:p>
        </p:txBody>
      </p:sp>
      <p:pic>
        <p:nvPicPr>
          <p:cNvPr descr="annual_energ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{width=88%}</a:t>
            </a:r>
          </a:p>
          <a:p>
            <a:pPr lvl="0"/>
            <a:r>
              <a:rPr/>
              <a:t>The grouped bars compare annual ISO demand and annual primary energy for each scenario.</a:t>
            </a:r>
          </a:p>
          <a:p>
            <a:pPr lvl="0"/>
            <a:r>
              <a:rPr/>
              <a:t>This view highlights whether a retrofit mainly reduces building demand, generation losses, or both.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CO2 Results</a:t>
            </a:r>
          </a:p>
        </p:txBody>
      </p:sp>
      <p:pic>
        <p:nvPicPr>
          <p:cNvPr descr="annual_co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7800" y="1193800"/>
            <a:ext cx="626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{width=88%}</a:t>
            </a:r>
          </a:p>
          <a:p>
            <a:pPr lvl="0"/>
            <a:r>
              <a:rPr/>
              <a:t>Lowest annual CO2: deep_envelope with 6.39 tCO2eq/year (59.4% vs baseline).</a:t>
            </a:r>
          </a:p>
          <a:p>
            <a:pPr lvl="0"/>
            <a:r>
              <a:rPr/>
              <a:t>Lowest annual primary energy: deep_envelope with 35,000 kWh/year.</a:t>
            </a:r>
          </a:p>
          <a:p>
            <a:pPr lvl="0"/>
            <a:r>
              <a:rPr/>
              <a:t>Lowest annual ISO 52016 demand: deep_envelope with 29,402 kWh/year.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CO2 uses a final-energy carrier split: delivered thermal energy is mapped to natural gas, grid imports to grid electricity, and self-consumed PV to solar PV.</a:t>
            </a:r>
          </a:p>
          <a:p>
            <a:pPr lvl="0"/>
            <a:r>
              <a:rPr/>
              <a:t>Country codes outside the explicit IT/DE mappings fall back to EU emission factors so archetypes such as Greece remain covered.</a:t>
            </a:r>
          </a:p>
          <a:p>
            <a:pPr lvl="0"/>
            <a:r>
              <a:rPr/>
              <a:t>The comparison is operational and annual: it does not include embodied carbon of retrofit materials or replacement systems.</a:t>
            </a:r>
          </a:p>
          <a:p>
            <a:pPr lvl="0"/>
            <a:r>
              <a:rPr/>
              <a:t>Results depend on the selected weather source, scenario definitions, and UNI/TS 11300 configuration used during the run.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2026-03-24T13:18:51Z</dcterms:created>
  <dcterms:modified xsi:type="dcterms:W3CDTF">2026-03-24T13:18:51Z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